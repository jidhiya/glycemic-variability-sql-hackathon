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70" r:id="rId6"/>
    <p:sldId id="271" r:id="rId7"/>
    <p:sldId id="272" r:id="rId8"/>
    <p:sldId id="273" r:id="rId9"/>
  </p:sldIdLst>
  <p:sldSz cx="9144000" cy="5143500" type="screen16x9"/>
  <p:notesSz cx="5143500" cy="9144000"/>
  <p:embeddedFontLst>
    <p:embeddedFont>
      <p:font typeface="Bebas Neue" panose="020B0606020202050201" pitchFamily="34" charset="0"/>
      <p:regular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Noto Sans" panose="020B0502040504020204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xGtDrnAPGE9aZI9YleFI/RhwD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AF8"/>
    <a:srgbClr val="FFD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013E0D8-E053-3F7E-BA45-56529E17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0EBDEC26-C1A8-CDD4-C4FC-8C6EDA39CF49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46E3958-3C84-877A-1D11-1F044039E76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9C93B657-4F8B-5BC3-85D3-C610DBCF2E6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E1E5FC29-54DB-CA5E-3997-E81731559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2044B8CE-0ECE-4540-59B7-37A0D9FFAF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484BBA2B-16FF-56AB-885C-49AFF143AA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606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08A7330-44E3-2E9D-E31B-DB3C0527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486DC37D-9548-8488-10A9-1869A445B1B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1492C42-EAEA-E065-A79A-B7016994F28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94FAB21-0E82-1E9A-031F-CE0A4582266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8891C095-6402-FDB1-00E0-8DE6A40BA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1029CAC1-2E63-3F6B-48BA-CB0A76C87D0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682E9529-3692-4D42-CCDA-9EB4050ABC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33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EA2ADD9-8ED6-979D-EAEA-64D3D414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DEED9F54-F147-C357-4234-541665534A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89E1FEE-EA37-BA23-73A1-C2B97E95CC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D0AA4E0-E374-4928-D665-9AE674B2555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B79C527B-3866-0D19-DDB7-33B7074EE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9231AF41-97B9-BBA8-D56B-8AB83B649C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F16EDB53-7DE8-9E7F-8054-E3ABCEB326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1808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EA2ADD9-8ED6-979D-EAEA-64D3D414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DEED9F54-F147-C357-4234-541665534A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89E1FEE-EA37-BA23-73A1-C2B97E95CC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D0AA4E0-E374-4928-D665-9AE674B2555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B79C527B-3866-0D19-DDB7-33B7074EE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9231AF41-97B9-BBA8-D56B-8AB83B649C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F16EDB53-7DE8-9E7F-8054-E3ABCEB326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1808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EA2ADD9-8ED6-979D-EAEA-64D3D414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DEED9F54-F147-C357-4234-541665534A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89E1FEE-EA37-BA23-73A1-C2B97E95CC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D0AA4E0-E374-4928-D665-9AE674B2555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B79C527B-3866-0D19-DDB7-33B7074EE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9231AF41-97B9-BBA8-D56B-8AB83B649C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F16EDB53-7DE8-9E7F-8054-E3ABCEB326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180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EA2ADD9-8ED6-979D-EAEA-64D3D414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DEED9F54-F147-C357-4234-541665534A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89E1FEE-EA37-BA23-73A1-C2B97E95CC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D0AA4E0-E374-4928-D665-9AE674B2555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B79C527B-3866-0D19-DDB7-33B7074EE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9231AF41-97B9-BBA8-D56B-8AB83B649C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F16EDB53-7DE8-9E7F-8054-E3ABCEB326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180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0C7CD02-9BE1-1DBE-5A3A-A87B4209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>
            <a:extLst>
              <a:ext uri="{FF2B5EF4-FFF2-40B4-BE49-F238E27FC236}">
                <a16:creationId xmlns:a16="http://schemas.microsoft.com/office/drawing/2014/main" id="{237C942B-55EE-EB8F-E6C1-B952F723E05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2C527F9-F27E-3D3A-35B7-0EF8FCB4BF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1.7.2013</a:t>
            </a: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F8B066E2-9023-E6EC-5F71-1EBF589D9094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>
            <a:extLst>
              <a:ext uri="{FF2B5EF4-FFF2-40B4-BE49-F238E27FC236}">
                <a16:creationId xmlns:a16="http://schemas.microsoft.com/office/drawing/2014/main" id="{46D2D291-248F-F070-C254-063A4FF12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FD806E1F-7DB3-8694-76D5-90040BB4C65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077DF4C4-E453-26FD-0428-F522FBE14E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839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2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23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2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8" name="Google Shape;68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24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"/>
          <p:cNvGrpSpPr/>
          <p:nvPr/>
        </p:nvGrpSpPr>
        <p:grpSpPr>
          <a:xfrm>
            <a:off x="2930236" y="775303"/>
            <a:ext cx="2715492" cy="396036"/>
            <a:chOff x="-337207" y="-2"/>
            <a:chExt cx="12495047" cy="2683405"/>
          </a:xfrm>
        </p:grpSpPr>
        <p:sp>
          <p:nvSpPr>
            <p:cNvPr id="105" name="Google Shape;105;p1"/>
            <p:cNvSpPr/>
            <p:nvPr/>
          </p:nvSpPr>
          <p:spPr>
            <a:xfrm>
              <a:off x="2" y="-2"/>
              <a:ext cx="12157838" cy="2494688"/>
            </a:xfrm>
            <a:custGeom>
              <a:avLst/>
              <a:gdLst/>
              <a:ahLst/>
              <a:cxnLst/>
              <a:rect l="l" t="t" r="r" b="b"/>
              <a:pathLst>
                <a:path w="12157840" h="2494689" extrusionOk="0">
                  <a:moveTo>
                    <a:pt x="0" y="0"/>
                  </a:moveTo>
                  <a:lnTo>
                    <a:pt x="12157840" y="0"/>
                  </a:lnTo>
                  <a:lnTo>
                    <a:pt x="12157840" y="2494689"/>
                  </a:lnTo>
                  <a:lnTo>
                    <a:pt x="0" y="24946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-337207" y="274440"/>
              <a:ext cx="12157834" cy="2408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chemeClr val="accent6">
                      <a:lumMod val="25000"/>
                    </a:schemeClr>
                  </a:solidFill>
                  <a:latin typeface="Bebas Neue"/>
                  <a:ea typeface="Bebas Neue"/>
                  <a:cs typeface="Bebas Neue"/>
                  <a:sym typeface="Bebas Neue"/>
                </a:rPr>
                <a:t>SQL Hackathon June 2026</a:t>
              </a:r>
              <a:endParaRPr sz="2400" dirty="0">
                <a:solidFill>
                  <a:schemeClr val="accent6">
                    <a:lumMod val="25000"/>
                  </a:schemeClr>
                </a:solidFill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995055" y="317975"/>
            <a:ext cx="5077690" cy="22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chemeClr val="accent1">
                    <a:lumMod val="50000"/>
                  </a:schemeClr>
                </a:solidFill>
                <a:latin typeface="Bebas Neue"/>
                <a:sym typeface="Bebas Neue"/>
              </a:rPr>
              <a:t>Team 2  Select Star From Warriors</a:t>
            </a:r>
            <a:endParaRPr sz="3200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67337" y="1392678"/>
            <a:ext cx="3491237" cy="336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400" b="1" u="sng" dirty="0">
                <a:solidFill>
                  <a:schemeClr val="accent2">
                    <a:lumMod val="50000"/>
                  </a:schemeClr>
                </a:solidFill>
              </a:rPr>
              <a:t>Team Members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Sandhya Lomety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Vishakha Pawar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Kavita Pakhale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Lakshmi D Kalavakolanu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Jidhiya Vijayan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lvl="0">
              <a:lnSpc>
                <a:spcPct val="150000"/>
              </a:lnSpc>
            </a:pPr>
            <a:endParaRPr sz="2400" b="1" dirty="0">
              <a:solidFill>
                <a:srgbClr val="1E01FA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BEFDB0-07EF-68A0-B8BA-22D808A7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9EDDA-5BE6-DE3A-450A-4A4D3FB69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36" y="1303509"/>
            <a:ext cx="3926443" cy="3064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F5EAE1EC-EBE5-12BE-5401-20E53258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">
            <a:extLst>
              <a:ext uri="{FF2B5EF4-FFF2-40B4-BE49-F238E27FC236}">
                <a16:creationId xmlns:a16="http://schemas.microsoft.com/office/drawing/2014/main" id="{35D96E99-F0A0-2AAF-A5A0-B4200A7C183D}"/>
              </a:ext>
            </a:extLst>
          </p:cNvPr>
          <p:cNvGrpSpPr/>
          <p:nvPr/>
        </p:nvGrpSpPr>
        <p:grpSpPr>
          <a:xfrm>
            <a:off x="523741" y="317975"/>
            <a:ext cx="8868694" cy="2108233"/>
            <a:chOff x="-2778378" y="-4710109"/>
            <a:chExt cx="16986452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DCCAC7B3-BA2D-AD81-A635-826C0B3E859B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91D0DA01-8593-2C03-9BC5-97837F7FEC3D}"/>
                </a:ext>
              </a:extLst>
            </p:cNvPr>
            <p:cNvSpPr txBox="1"/>
            <p:nvPr/>
          </p:nvSpPr>
          <p:spPr>
            <a:xfrm>
              <a:off x="-2778378" y="-4710109"/>
              <a:ext cx="16986452" cy="17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sz="2400" b="1" u="sng" dirty="0">
                  <a:solidFill>
                    <a:schemeClr val="accent1">
                      <a:lumMod val="50000"/>
                    </a:schemeClr>
                  </a:solidFill>
                  <a:latin typeface="Noto Sans"/>
                  <a:ea typeface="Noto Sans"/>
                  <a:cs typeface="Noto Sans"/>
                  <a:sym typeface="Noto Sans"/>
                </a:rPr>
                <a:t>Glycemic Variability and Wearable Device Data Set</a:t>
              </a:r>
              <a:endParaRPr lang="en-US" sz="24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3B3F536-CAAC-8539-1580-34B96ABE8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D159C-CA1F-C005-6C40-E58735B5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67" y="905408"/>
            <a:ext cx="7296203" cy="971557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2681C0-49BD-B081-B1AC-3DB9BE8BCB9F}"/>
              </a:ext>
            </a:extLst>
          </p:cNvPr>
          <p:cNvSpPr/>
          <p:nvPr/>
        </p:nvSpPr>
        <p:spPr>
          <a:xfrm>
            <a:off x="785611" y="2322490"/>
            <a:ext cx="3687651" cy="2545724"/>
          </a:xfrm>
          <a:prstGeom prst="roundRect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b="1" u="sng" dirty="0">
                <a:solidFill>
                  <a:schemeClr val="accent6">
                    <a:lumMod val="10000"/>
                  </a:schemeClr>
                </a:solidFill>
              </a:rPr>
              <a:t>SDET Perspective</a:t>
            </a:r>
            <a:r>
              <a:rPr lang="en-US" u="sng" dirty="0"/>
              <a:t>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latin typeface="+mj-lt"/>
              </a:rPr>
              <a:t> </a:t>
            </a:r>
            <a:r>
              <a:rPr lang="en-US" sz="1200" dirty="0">
                <a:solidFill>
                  <a:schemeClr val="bg2"/>
                </a:solidFill>
                <a:latin typeface="+mj-lt"/>
              </a:rPr>
              <a:t>All 7 tables verified for completeness.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3 timestamp formats detected and fixed.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Duplicate readings removed across all tables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it-IT" sz="1200" dirty="0">
                <a:solidFill>
                  <a:schemeClr val="bg2"/>
                </a:solidFill>
                <a:latin typeface="+mj-lt"/>
              </a:rPr>
              <a:t> NULL vs zero decision documented.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Future timestamps flagged in food log.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6C0CA3-26B4-0D08-5866-C5786E676B14}"/>
              </a:ext>
            </a:extLst>
          </p:cNvPr>
          <p:cNvSpPr/>
          <p:nvPr/>
        </p:nvSpPr>
        <p:spPr>
          <a:xfrm>
            <a:off x="4720107" y="2273807"/>
            <a:ext cx="3687651" cy="2594405"/>
          </a:xfrm>
          <a:prstGeom prst="roundRect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b="1" u="sng" dirty="0">
                <a:solidFill>
                  <a:schemeClr val="accent6">
                    <a:lumMod val="10000"/>
                  </a:schemeClr>
                </a:solidFill>
              </a:rPr>
              <a:t>DA Perspective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7 tables across 2 devices + food log 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36,886 glucose readings analyzed.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8.6M heart rate readings down sampled.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Clean schema with indexes and constraints.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+mj-lt"/>
              </a:rPr>
              <a:t> Foreign keys enforcing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32503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E3BCCFEC-609A-9D58-3A87-75926566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">
            <a:extLst>
              <a:ext uri="{FF2B5EF4-FFF2-40B4-BE49-F238E27FC236}">
                <a16:creationId xmlns:a16="http://schemas.microsoft.com/office/drawing/2014/main" id="{A8A97220-F665-B24B-FBEF-06E2EDA4AD4C}"/>
              </a:ext>
            </a:extLst>
          </p:cNvPr>
          <p:cNvGrpSpPr/>
          <p:nvPr/>
        </p:nvGrpSpPr>
        <p:grpSpPr>
          <a:xfrm>
            <a:off x="686872" y="309388"/>
            <a:ext cx="8015788" cy="3571446"/>
            <a:chOff x="-1922103" y="-4710109"/>
            <a:chExt cx="15756541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391803BD-70B9-65C9-E2A0-D06613D00E68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94EE6FE4-3F66-F823-1ACC-CD5A39969359}"/>
                </a:ext>
              </a:extLst>
            </p:cNvPr>
            <p:cNvSpPr txBox="1"/>
            <p:nvPr/>
          </p:nvSpPr>
          <p:spPr>
            <a:xfrm>
              <a:off x="-1922103" y="-4710109"/>
              <a:ext cx="15459549" cy="17951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sz="2400" b="1" u="sng" dirty="0">
                  <a:solidFill>
                    <a:schemeClr val="accent1">
                      <a:lumMod val="50000"/>
                    </a:schemeClr>
                  </a:solidFill>
                  <a:latin typeface="Noto Sans"/>
                  <a:ea typeface="Noto Sans"/>
                  <a:cs typeface="Noto Sans"/>
                  <a:sym typeface="Noto Sans"/>
                </a:rPr>
                <a:t>ER Diagram</a:t>
              </a:r>
            </a:p>
            <a:p>
              <a:pPr lvl="0">
                <a:lnSpc>
                  <a:spcPct val="150000"/>
                </a:lnSpc>
              </a:pPr>
              <a:r>
                <a:rPr lang="en-US" sz="1100" dirty="0"/>
                <a:t>The ERD below was generated directly from pgAdmin reflecting the actual live clean schema. All six sensor and log tables reference clean.demography via patient_id as the universal foreign key.</a:t>
              </a:r>
              <a:endParaRPr lang="en-US" sz="11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AEC4499-AB8A-2946-0951-6F7CBA2C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EE8A19-B278-9D87-208C-D0D054B020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35"/>
          <a:stretch>
            <a:fillRect/>
          </a:stretch>
        </p:blipFill>
        <p:spPr>
          <a:xfrm>
            <a:off x="686872" y="1262667"/>
            <a:ext cx="7864699" cy="379091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757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D4B62DA0-8D6E-8EE4-A7CA-DCC8D013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">
            <a:extLst>
              <a:ext uri="{FF2B5EF4-FFF2-40B4-BE49-F238E27FC236}">
                <a16:creationId xmlns:a16="http://schemas.microsoft.com/office/drawing/2014/main" id="{F98A5DC9-7090-305D-10E2-7B4C4466B9DE}"/>
              </a:ext>
            </a:extLst>
          </p:cNvPr>
          <p:cNvGrpSpPr/>
          <p:nvPr/>
        </p:nvGrpSpPr>
        <p:grpSpPr>
          <a:xfrm>
            <a:off x="251261" y="309388"/>
            <a:ext cx="8641478" cy="3571446"/>
            <a:chOff x="-2778378" y="-4710109"/>
            <a:chExt cx="16986452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25CF82E3-7D26-3883-A144-EDB90A9FEA39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0B010D16-6615-130C-5B44-47C698C22FF5}"/>
                </a:ext>
              </a:extLst>
            </p:cNvPr>
            <p:cNvSpPr txBox="1"/>
            <p:nvPr/>
          </p:nvSpPr>
          <p:spPr>
            <a:xfrm>
              <a:off x="-2778378" y="-4710109"/>
              <a:ext cx="16986452" cy="17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sz="2400" b="1" u="sng" dirty="0">
                  <a:solidFill>
                    <a:schemeClr val="accent1">
                      <a:lumMod val="50000"/>
                    </a:schemeClr>
                  </a:solidFill>
                  <a:latin typeface="Noto Sans"/>
                  <a:ea typeface="Noto Sans"/>
                  <a:cs typeface="Noto Sans"/>
                  <a:sym typeface="Noto Sans"/>
                </a:rPr>
                <a:t>Best Techniques Used</a:t>
              </a:r>
              <a:endParaRPr lang="en-US" sz="24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D87AC2-26C0-4D1B-CFF6-FE77C4CF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760DB-20A3-9EB7-C074-CB6C0E153E1A}"/>
              </a:ext>
            </a:extLst>
          </p:cNvPr>
          <p:cNvSpPr txBox="1"/>
          <p:nvPr/>
        </p:nvSpPr>
        <p:spPr>
          <a:xfrm>
            <a:off x="391635" y="680740"/>
            <a:ext cx="8385220" cy="3566810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/>
              <a:t>LAG()</a:t>
            </a:r>
            <a:r>
              <a:rPr lang="en-US" sz="1200" dirty="0"/>
              <a:t>: Returns the previous rows value in the result set.</a:t>
            </a:r>
          </a:p>
          <a:p>
            <a:pPr>
              <a:lnSpc>
                <a:spcPct val="200000"/>
              </a:lnSpc>
            </a:pPr>
            <a:r>
              <a:rPr lang="en-US" sz="1200" b="1" dirty="0"/>
              <a:t>LEAD()</a:t>
            </a:r>
            <a:r>
              <a:rPr lang="en-US" sz="1200" dirty="0"/>
              <a:t>: Returns the next rows value in the result set.</a:t>
            </a:r>
          </a:p>
          <a:p>
            <a:pPr>
              <a:lnSpc>
                <a:spcPct val="200000"/>
              </a:lnSpc>
            </a:pPr>
            <a:r>
              <a:rPr lang="en-US" sz="1200" b="1" dirty="0"/>
              <a:t>NTILE() : </a:t>
            </a:r>
            <a:r>
              <a:rPr lang="en-US" sz="1200" dirty="0"/>
              <a:t>Divides ordered rows into a specified number of equal-sized buckets.</a:t>
            </a:r>
          </a:p>
          <a:p>
            <a:pPr>
              <a:lnSpc>
                <a:spcPct val="200000"/>
              </a:lnSpc>
            </a:pPr>
            <a:r>
              <a:rPr lang="en-US" sz="1200" b="1" dirty="0"/>
              <a:t>DENSE_RANK(): </a:t>
            </a:r>
            <a:r>
              <a:rPr lang="en-US" sz="1200" dirty="0"/>
              <a:t>Ranks rows within a group with no gaps in the ranking, even when there are ties..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STDDEV (Standard Deviation) / STDDEV_POP()</a:t>
            </a:r>
            <a:r>
              <a:rPr lang="en-US" sz="1200" dirty="0"/>
              <a:t>: Measures how spread-out values are from the mean — the foundation of glycemic variability metrics like CV% (STDDEV ÷ MEAN × 100).</a:t>
            </a:r>
          </a:p>
          <a:p>
            <a:pPr>
              <a:lnSpc>
                <a:spcPct val="200000"/>
              </a:lnSpc>
            </a:pPr>
            <a:r>
              <a:rPr lang="en-US" sz="1200" b="1" dirty="0"/>
              <a:t>CTE</a:t>
            </a:r>
            <a:r>
              <a:rPr lang="en-US" sz="1200" dirty="0"/>
              <a:t>: It is a temporary result set that is defined within the execution of a  single SQL statement.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RECURSIVE CTE</a:t>
            </a:r>
            <a:r>
              <a:rPr lang="en-US" sz="1200" dirty="0"/>
              <a:t>: A CTE that references itself, building results step by step until no more rows qualify — used for sequential/hierarchical problems a normal GROUP BY can't solve.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CROSS TAB</a:t>
            </a:r>
            <a:r>
              <a:rPr lang="en-US" sz="1200" dirty="0"/>
              <a:t>: Pivots rows into columns — turning a "one row per category" result into a spreadsheet-style grid with one row per entity and one column per category.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9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D4B62DA0-8D6E-8EE4-A7CA-DCC8D013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7;p1">
            <a:extLst>
              <a:ext uri="{FF2B5EF4-FFF2-40B4-BE49-F238E27FC236}">
                <a16:creationId xmlns:a16="http://schemas.microsoft.com/office/drawing/2014/main" id="{F98A5DC9-7090-305D-10E2-7B4C4466B9DE}"/>
              </a:ext>
            </a:extLst>
          </p:cNvPr>
          <p:cNvGrpSpPr/>
          <p:nvPr/>
        </p:nvGrpSpPr>
        <p:grpSpPr>
          <a:xfrm>
            <a:off x="251261" y="309388"/>
            <a:ext cx="8641478" cy="3571446"/>
            <a:chOff x="-2778378" y="-4710109"/>
            <a:chExt cx="16986452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25CF82E3-7D26-3883-A144-EDB90A9FEA39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0B010D16-6615-130C-5B44-47C698C22FF5}"/>
                </a:ext>
              </a:extLst>
            </p:cNvPr>
            <p:cNvSpPr txBox="1"/>
            <p:nvPr/>
          </p:nvSpPr>
          <p:spPr>
            <a:xfrm>
              <a:off x="-2778378" y="-4710109"/>
              <a:ext cx="16986452" cy="17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sz="2400" b="1" u="sng" dirty="0">
                  <a:solidFill>
                    <a:schemeClr val="accent1">
                      <a:lumMod val="50000"/>
                    </a:schemeClr>
                  </a:solidFill>
                  <a:latin typeface="Noto Sans"/>
                  <a:ea typeface="Noto Sans"/>
                  <a:cs typeface="Noto Sans"/>
                  <a:sym typeface="Noto Sans"/>
                </a:rPr>
                <a:t>Best Techniques Used</a:t>
              </a:r>
              <a:endParaRPr lang="en-US" sz="24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D87AC2-26C0-4D1B-CFF6-FE77C4CF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760DB-20A3-9EB7-C074-CB6C0E153E1A}"/>
              </a:ext>
            </a:extLst>
          </p:cNvPr>
          <p:cNvSpPr txBox="1"/>
          <p:nvPr/>
        </p:nvSpPr>
        <p:spPr>
          <a:xfrm>
            <a:off x="377780" y="742295"/>
            <a:ext cx="8465713" cy="3561039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/>
              <a:t>JOINs</a:t>
            </a:r>
            <a:r>
              <a:rPr lang="en-US" sz="1200" dirty="0"/>
              <a:t> :JOINs combine rows across tables (INNER, LEFT, time-range JOINs)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SUBQUERIES</a:t>
            </a:r>
            <a:r>
              <a:rPr lang="en-US" sz="1200" dirty="0"/>
              <a:t>: They nest one query inside another, either in the SELECT list, WHERE clause, or FROM clause.</a:t>
            </a:r>
            <a:br>
              <a:rPr lang="en-US" sz="1200" dirty="0"/>
            </a:br>
            <a:r>
              <a:rPr lang="en-US" sz="1200" b="1" dirty="0"/>
              <a:t>THE PRETTY FUNCTION</a:t>
            </a:r>
            <a:r>
              <a:rPr lang="en-US" sz="1200" dirty="0"/>
              <a:t>: pg_size_pretty converts raw byte counts into human-readable units (KB/MB/GB) instead of a huge unformatted number.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REUSABLE FUNCTION</a:t>
            </a:r>
            <a:r>
              <a:rPr lang="en-US" sz="1200" dirty="0"/>
              <a:t>: A named, callable block of code that </a:t>
            </a:r>
            <a:r>
              <a:rPr lang="en-US" sz="1200" b="1" dirty="0"/>
              <a:t>returns a value</a:t>
            </a:r>
            <a:r>
              <a:rPr lang="en-US" sz="1200" dirty="0"/>
              <a:t> — used in a SELECT exactly like AVG() or ROUND(). Written once, called everywhere.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STORED PROCEDURES:</a:t>
            </a:r>
            <a:r>
              <a:rPr lang="en-US" sz="1200" dirty="0"/>
              <a:t> A named block of code that </a:t>
            </a:r>
            <a:r>
              <a:rPr lang="en-US" sz="1200" b="1" dirty="0"/>
              <a:t>performs an action</a:t>
            </a:r>
            <a:r>
              <a:rPr lang="en-US" sz="1200" dirty="0"/>
              <a:t> (not necessarily returning a value), called with CALL. Used for batch jobs that write results into a table.</a:t>
            </a: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1200" b="1" dirty="0"/>
              <a:t>TRIGGERS</a:t>
            </a:r>
            <a:r>
              <a:rPr lang="en-US" sz="1200" dirty="0"/>
              <a:t>: Code that fires </a:t>
            </a:r>
            <a:r>
              <a:rPr lang="en-US" sz="1200" b="1" dirty="0"/>
              <a:t>automatically</a:t>
            </a:r>
            <a:r>
              <a:rPr lang="en-US" sz="1200" dirty="0"/>
              <a:t> on INSERT/UPDATE/DELETE — no manual call needed. Used for real-time automation.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94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D4B62DA0-8D6E-8EE4-A7CA-DCC8D013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7;p1">
            <a:extLst>
              <a:ext uri="{FF2B5EF4-FFF2-40B4-BE49-F238E27FC236}">
                <a16:creationId xmlns:a16="http://schemas.microsoft.com/office/drawing/2014/main" id="{F98A5DC9-7090-305D-10E2-7B4C4466B9DE}"/>
              </a:ext>
            </a:extLst>
          </p:cNvPr>
          <p:cNvGrpSpPr/>
          <p:nvPr/>
        </p:nvGrpSpPr>
        <p:grpSpPr>
          <a:xfrm>
            <a:off x="251261" y="309388"/>
            <a:ext cx="8641478" cy="3571446"/>
            <a:chOff x="-2778378" y="-4710109"/>
            <a:chExt cx="16986452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25CF82E3-7D26-3883-A144-EDB90A9FEA39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0B010D16-6615-130C-5B44-47C698C22FF5}"/>
                </a:ext>
              </a:extLst>
            </p:cNvPr>
            <p:cNvSpPr txBox="1"/>
            <p:nvPr/>
          </p:nvSpPr>
          <p:spPr>
            <a:xfrm>
              <a:off x="-2778378" y="-4710109"/>
              <a:ext cx="16986452" cy="17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sz="2400" b="1" u="sng" dirty="0">
                  <a:solidFill>
                    <a:schemeClr val="accent1">
                      <a:lumMod val="50000"/>
                    </a:schemeClr>
                  </a:solidFill>
                  <a:latin typeface="Noto Sans"/>
                  <a:ea typeface="Noto Sans"/>
                  <a:sym typeface="Noto Sans"/>
                </a:rPr>
                <a:t>Key Insights</a:t>
              </a:r>
              <a:endParaRPr lang="en-US" sz="24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D87AC2-26C0-4D1B-CFF6-FE77C4CF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760DB-20A3-9EB7-C074-CB6C0E153E1A}"/>
              </a:ext>
            </a:extLst>
          </p:cNvPr>
          <p:cNvSpPr txBox="1"/>
          <p:nvPr/>
        </p:nvSpPr>
        <p:spPr>
          <a:xfrm>
            <a:off x="210355" y="832833"/>
            <a:ext cx="8774805" cy="4040658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SDET Findings: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Checked that all 16 patients had data in every single table- For Patient ID 3, data was missing in Food log table.</a:t>
            </a:r>
          </a:p>
          <a:p>
            <a:pPr marL="171450" indent="-171450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Found 3 different date formats in the raw data and converted them into one standard format.</a:t>
            </a:r>
          </a:p>
          <a:p>
            <a:pPr marL="171450" indent="-171450"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Found duplicate readings- turned out the sensors were just recording fast (multiple times per second), not actually   broken.</a:t>
            </a:r>
          </a:p>
          <a:p>
            <a:pPr marL="171450" indent="-1714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Found and corrected incorrect meal log timestamps, including records with impossible future dates, to improve data </a:t>
            </a:r>
            <a:r>
              <a:rPr lang="en-US" sz="1200"/>
              <a:t>accuracy.</a:t>
            </a:r>
            <a:endParaRPr lang="en-US" sz="1200" dirty="0"/>
          </a:p>
          <a:p>
            <a:pPr marL="171450" indent="-1714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Created a check that detects when body temperature goes down while heart rate suddenly goes up at the same time. This usually means the wristband was loose, not that the patient had a real health problem.</a:t>
            </a:r>
          </a:p>
          <a:p>
            <a:pPr>
              <a:spcBef>
                <a:spcPts val="120"/>
              </a:spcBef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1200" b="1" dirty="0"/>
              <a:t>Analyst Findings: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Based on HbA1c analysis, pre-diabetes was more prevalent among female participants (55.6%) than males (42.9%).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Many participants struggled to maintain healthy blood glucose levels consistently.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Higher glucose variability was strongly associated with poorer glycemic control.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Nighttime blood glucose levels were consistently higher than morning and afternoon levels.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9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D4B62DA0-8D6E-8EE4-A7CA-DCC8D013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7;p1">
            <a:extLst>
              <a:ext uri="{FF2B5EF4-FFF2-40B4-BE49-F238E27FC236}">
                <a16:creationId xmlns:a16="http://schemas.microsoft.com/office/drawing/2014/main" id="{F98A5DC9-7090-305D-10E2-7B4C4466B9DE}"/>
              </a:ext>
            </a:extLst>
          </p:cNvPr>
          <p:cNvGrpSpPr/>
          <p:nvPr/>
        </p:nvGrpSpPr>
        <p:grpSpPr>
          <a:xfrm>
            <a:off x="251261" y="309388"/>
            <a:ext cx="8641478" cy="3571446"/>
            <a:chOff x="-2778378" y="-4710109"/>
            <a:chExt cx="16986452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25CF82E3-7D26-3883-A144-EDB90A9FEA39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0B010D16-6615-130C-5B44-47C698C22FF5}"/>
                </a:ext>
              </a:extLst>
            </p:cNvPr>
            <p:cNvSpPr txBox="1"/>
            <p:nvPr/>
          </p:nvSpPr>
          <p:spPr>
            <a:xfrm>
              <a:off x="-2778378" y="-4710109"/>
              <a:ext cx="16986452" cy="17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sz="2400" b="1" u="sng" dirty="0">
                  <a:solidFill>
                    <a:schemeClr val="accent1">
                      <a:lumMod val="50000"/>
                    </a:schemeClr>
                  </a:solidFill>
                  <a:latin typeface="Noto Sans"/>
                  <a:ea typeface="Noto Sans"/>
                  <a:sym typeface="Noto Sans"/>
                </a:rPr>
                <a:t>Summary</a:t>
              </a:r>
              <a:endParaRPr lang="en-US" sz="24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D87AC2-26C0-4D1B-CFF6-FE77C4CF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760DB-20A3-9EB7-C074-CB6C0E153E1A}"/>
              </a:ext>
            </a:extLst>
          </p:cNvPr>
          <p:cNvSpPr txBox="1"/>
          <p:nvPr/>
        </p:nvSpPr>
        <p:spPr>
          <a:xfrm>
            <a:off x="377780" y="742295"/>
            <a:ext cx="8465713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>
              <a:lnSpc>
                <a:spcPct val="200000"/>
              </a:lnSpc>
            </a:pPr>
            <a:endParaRPr lang="en-US" sz="1200" b="1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614ED-3B4A-F1CD-12F8-0F3C132207F5}"/>
              </a:ext>
            </a:extLst>
          </p:cNvPr>
          <p:cNvSpPr/>
          <p:nvPr/>
        </p:nvSpPr>
        <p:spPr>
          <a:xfrm>
            <a:off x="377780" y="858982"/>
            <a:ext cx="8388439" cy="37961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/>
                </a:solidFill>
              </a:rPr>
              <a:t>Processed and transformed 11M+ healthcare sensor records</a:t>
            </a:r>
            <a:r>
              <a:rPr lang="en-US" sz="1200" dirty="0">
                <a:solidFill>
                  <a:schemeClr val="bg2"/>
                </a:solidFill>
              </a:rPr>
              <a:t> across </a:t>
            </a:r>
            <a:r>
              <a:rPr lang="en-US" sz="1200" b="1" dirty="0">
                <a:solidFill>
                  <a:schemeClr val="bg2"/>
                </a:solidFill>
              </a:rPr>
              <a:t>7 integrated datasets</a:t>
            </a:r>
            <a:r>
              <a:rPr lang="en-US" sz="1200" dirty="0">
                <a:solidFill>
                  <a:schemeClr val="bg2"/>
                </a:solidFill>
              </a:rPr>
              <a:t>, including </a:t>
            </a:r>
            <a:r>
              <a:rPr lang="en-US" sz="1200" b="1" dirty="0">
                <a:solidFill>
                  <a:schemeClr val="bg2"/>
                </a:solidFill>
              </a:rPr>
              <a:t>36K+ CGM, 8.6M Heart Rate, 1M+ EDA, 622K+ IBI, 1M+ Temperature, and Food Log</a:t>
            </a:r>
            <a:r>
              <a:rPr lang="en-US" sz="1200" dirty="0">
                <a:solidFill>
                  <a:schemeClr val="bg2"/>
                </a:solidFill>
              </a:rPr>
              <a:t> records into a unified analytical database. 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/>
                </a:solidFill>
              </a:rPr>
              <a:t>Performed end-to-end ETL and data quality validation</a:t>
            </a:r>
            <a:r>
              <a:rPr lang="en-US" sz="1200" dirty="0">
                <a:solidFill>
                  <a:schemeClr val="bg2"/>
                </a:solidFill>
              </a:rPr>
              <a:t> by standardizing data types, normalizing multiple timestamp formats, removing duplicates, handling missing values, and validating physiological data to improve analytical accuracy.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/>
                </a:solidFill>
              </a:rPr>
              <a:t>Designed an optimized relational data model</a:t>
            </a:r>
            <a:r>
              <a:rPr lang="en-US" sz="1200" dirty="0">
                <a:solidFill>
                  <a:schemeClr val="bg2"/>
                </a:solidFill>
              </a:rPr>
              <a:t> using </a:t>
            </a:r>
            <a:r>
              <a:rPr lang="en-US" sz="1200" b="1" dirty="0">
                <a:solidFill>
                  <a:schemeClr val="bg2"/>
                </a:solidFill>
              </a:rPr>
              <a:t>Primary Keys, Foreign Keys, Check Constraints, Indexes, and Patient ID-based relationships</a:t>
            </a:r>
            <a:r>
              <a:rPr lang="en-US" sz="1200" dirty="0">
                <a:solidFill>
                  <a:schemeClr val="bg2"/>
                </a:solidFill>
              </a:rPr>
              <a:t> to ensure data integrity and improve query performance.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/>
                </a:solidFill>
              </a:rPr>
              <a:t>Developed 80+ business-driven SQL queries</a:t>
            </a:r>
            <a:r>
              <a:rPr lang="en-US" sz="1200" dirty="0">
                <a:solidFill>
                  <a:schemeClr val="bg2"/>
                </a:solidFill>
              </a:rPr>
              <a:t> utilizing </a:t>
            </a:r>
            <a:r>
              <a:rPr lang="en-US" sz="1200" b="1" dirty="0">
                <a:solidFill>
                  <a:schemeClr val="bg2"/>
                </a:solidFill>
              </a:rPr>
              <a:t>JOINs, CTEs, CASE Statements, Window Functions, Aggregations, Ranking Functions, and Date-Time Analytics</a:t>
            </a:r>
            <a:r>
              <a:rPr lang="en-US" sz="1200" dirty="0">
                <a:solidFill>
                  <a:schemeClr val="bg2"/>
                </a:solidFill>
              </a:rPr>
              <a:t> to uncover patient health trends, glucose variability, nutritional impact, cardiovascular risk, and physiological stress.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/>
                </a:solidFill>
              </a:rPr>
              <a:t>Integrated Continuous Glucose Monitoring (CGM), Heart Rate, EDA, IBI, Temperature, Nutrition, and Demographic data</a:t>
            </a:r>
            <a:r>
              <a:rPr lang="en-US" sz="1200" dirty="0">
                <a:solidFill>
                  <a:schemeClr val="bg2"/>
                </a:solidFill>
              </a:rPr>
              <a:t> to generate patient-level risk profiles and clinically meaningful healthcare insights.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/>
                </a:solidFill>
              </a:rPr>
              <a:t>Delivered scalable, high-performance healthcare analytics</a:t>
            </a:r>
            <a:r>
              <a:rPr lang="en-US" sz="1200" dirty="0">
                <a:solidFill>
                  <a:schemeClr val="bg2"/>
                </a:solidFill>
              </a:rPr>
              <a:t> by optimizing SQL execution through indexing, schema normalization, and efficient query design, enabling accurate reporting and evidence-based clinical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1339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C505B83F-8633-0301-BA73-6276E7A0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7;p1">
            <a:extLst>
              <a:ext uri="{FF2B5EF4-FFF2-40B4-BE49-F238E27FC236}">
                <a16:creationId xmlns:a16="http://schemas.microsoft.com/office/drawing/2014/main" id="{57C8CA4A-21D4-585D-C37A-E7F36FD89109}"/>
              </a:ext>
            </a:extLst>
          </p:cNvPr>
          <p:cNvGrpSpPr/>
          <p:nvPr/>
        </p:nvGrpSpPr>
        <p:grpSpPr>
          <a:xfrm>
            <a:off x="251261" y="309388"/>
            <a:ext cx="8641478" cy="3571446"/>
            <a:chOff x="-2778378" y="-4710109"/>
            <a:chExt cx="16986452" cy="6590965"/>
          </a:xfrm>
        </p:grpSpPr>
        <p:sp>
          <p:nvSpPr>
            <p:cNvPr id="108" name="Google Shape;108;p1">
              <a:extLst>
                <a:ext uri="{FF2B5EF4-FFF2-40B4-BE49-F238E27FC236}">
                  <a16:creationId xmlns:a16="http://schemas.microsoft.com/office/drawing/2014/main" id="{BAC9D9A2-C023-744F-88EF-C5917E2B7F23}"/>
                </a:ext>
              </a:extLst>
            </p:cNvPr>
            <p:cNvSpPr/>
            <p:nvPr/>
          </p:nvSpPr>
          <p:spPr>
            <a:xfrm>
              <a:off x="0" y="0"/>
              <a:ext cx="13834438" cy="1880856"/>
            </a:xfrm>
            <a:custGeom>
              <a:avLst/>
              <a:gdLst/>
              <a:ahLst/>
              <a:cxnLst/>
              <a:rect l="l" t="t" r="r" b="b"/>
              <a:pathLst>
                <a:path w="13834438" h="1880856" extrusionOk="0">
                  <a:moveTo>
                    <a:pt x="0" y="0"/>
                  </a:moveTo>
                  <a:lnTo>
                    <a:pt x="13834438" y="0"/>
                  </a:lnTo>
                  <a:lnTo>
                    <a:pt x="13834438" y="1880856"/>
                  </a:lnTo>
                  <a:lnTo>
                    <a:pt x="0" y="1880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>
              <a:extLst>
                <a:ext uri="{FF2B5EF4-FFF2-40B4-BE49-F238E27FC236}">
                  <a16:creationId xmlns:a16="http://schemas.microsoft.com/office/drawing/2014/main" id="{0B9D7B7A-FB77-B7EC-97D2-A31E379F9421}"/>
                </a:ext>
              </a:extLst>
            </p:cNvPr>
            <p:cNvSpPr txBox="1"/>
            <p:nvPr/>
          </p:nvSpPr>
          <p:spPr>
            <a:xfrm>
              <a:off x="-2778378" y="-4710109"/>
              <a:ext cx="16986452" cy="17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endParaRPr lang="en-US" sz="2400" u="sng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96B82DC-4DB9-3F3F-B608-826D2ABB8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7" y="55476"/>
            <a:ext cx="411269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502F9-F58B-DE5B-4D85-FF310850B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92" y="741276"/>
            <a:ext cx="7481454" cy="369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42732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913</Words>
  <Application>Microsoft Office PowerPoint</Application>
  <PresentationFormat>On-screen Show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Bebas Neue</vt:lpstr>
      <vt:lpstr>Noto Sans</vt:lpstr>
      <vt:lpstr>Wingdings</vt:lpstr>
      <vt:lpstr>Raleway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PptxGenJS</dc:creator>
  <cp:lastModifiedBy>Jidhiya Vijayan</cp:lastModifiedBy>
  <cp:revision>38</cp:revision>
  <dcterms:created xsi:type="dcterms:W3CDTF">2025-08-05T18:04:23Z</dcterms:created>
  <dcterms:modified xsi:type="dcterms:W3CDTF">2026-06-30T20:17:40Z</dcterms:modified>
</cp:coreProperties>
</file>